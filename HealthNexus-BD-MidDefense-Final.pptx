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F430EF-D343-4553-ABDA-5E5D71560465}">
  <a:tblStyle styleId="{28F430EF-D343-4553-ABDA-5E5D7156046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20" y="1463040"/>
            <a:ext cx="8778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HealthNexus BD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AI-Powered Unified Patient Health Record (UPHR) System for Bangladesh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8325" y="3734875"/>
            <a:ext cx="12191700" cy="2986200"/>
          </a:xfrm>
          <a:prstGeom prst="rect">
            <a:avLst/>
          </a:prstGeom>
          <a:gradFill>
            <a:gsLst>
              <a:gs pos="0">
                <a:srgbClr val="0A1228"/>
              </a:gs>
              <a:gs pos="100000">
                <a:srgbClr val="2E4B8B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954175" y="3871810"/>
            <a:ext cx="4937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Khorshed Alam Mozahid</a:t>
            </a:r>
            <a:r>
              <a:rPr b="1" i="0"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(0242310005341228)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Rajib Mia</a:t>
            </a:r>
            <a:endParaRPr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 (Senior Scale)</a:t>
            </a:r>
            <a:b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88" name="Google Shape;88;p13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374139" y="475869"/>
            <a:ext cx="22257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Outlines</a:t>
            </a:r>
            <a:endParaRPr b="1"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1368552" y="1438655"/>
            <a:ext cx="6987540" cy="433069"/>
            <a:chOff x="1368552" y="1743455"/>
            <a:chExt cx="6987540" cy="433069"/>
          </a:xfrm>
        </p:grpSpPr>
        <p:sp>
          <p:nvSpPr>
            <p:cNvPr id="95" name="Google Shape;95;p14"/>
            <p:cNvSpPr/>
            <p:nvPr/>
          </p:nvSpPr>
          <p:spPr>
            <a:xfrm>
              <a:off x="1368552" y="1743455"/>
              <a:ext cx="6987540" cy="433069"/>
            </a:xfrm>
            <a:custGeom>
              <a:rect b="b" l="l" r="r" t="t"/>
              <a:pathLst>
                <a:path extrusionOk="0" h="433069" w="6987540">
                  <a:moveTo>
                    <a:pt x="6944233" y="0"/>
                  </a:moveTo>
                  <a:lnTo>
                    <a:pt x="43306" y="0"/>
                  </a:lnTo>
                  <a:lnTo>
                    <a:pt x="26467" y="3409"/>
                  </a:lnTo>
                  <a:lnTo>
                    <a:pt x="12700" y="12700"/>
                  </a:lnTo>
                  <a:lnTo>
                    <a:pt x="3409" y="26467"/>
                  </a:lnTo>
                  <a:lnTo>
                    <a:pt x="0" y="43307"/>
                  </a:lnTo>
                  <a:lnTo>
                    <a:pt x="0" y="389509"/>
                  </a:lnTo>
                  <a:lnTo>
                    <a:pt x="3409" y="406348"/>
                  </a:lnTo>
                  <a:lnTo>
                    <a:pt x="12700" y="420116"/>
                  </a:lnTo>
                  <a:lnTo>
                    <a:pt x="26467" y="429406"/>
                  </a:lnTo>
                  <a:lnTo>
                    <a:pt x="43306" y="432816"/>
                  </a:lnTo>
                  <a:lnTo>
                    <a:pt x="6944233" y="432816"/>
                  </a:lnTo>
                  <a:lnTo>
                    <a:pt x="6961072" y="429406"/>
                  </a:lnTo>
                  <a:lnTo>
                    <a:pt x="6974840" y="420116"/>
                  </a:lnTo>
                  <a:lnTo>
                    <a:pt x="6984130" y="406348"/>
                  </a:lnTo>
                  <a:lnTo>
                    <a:pt x="6987540" y="389509"/>
                  </a:lnTo>
                  <a:lnTo>
                    <a:pt x="6987540" y="43307"/>
                  </a:lnTo>
                  <a:lnTo>
                    <a:pt x="6984130" y="26467"/>
                  </a:lnTo>
                  <a:lnTo>
                    <a:pt x="6974840" y="12700"/>
                  </a:lnTo>
                  <a:lnTo>
                    <a:pt x="6961072" y="3409"/>
                  </a:lnTo>
                  <a:lnTo>
                    <a:pt x="6944233" y="0"/>
                  </a:lnTo>
                  <a:close/>
                </a:path>
              </a:pathLst>
            </a:custGeom>
            <a:solidFill>
              <a:srgbClr val="CFD4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93266" y="1834641"/>
              <a:ext cx="250444" cy="2504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14"/>
          <p:cNvSpPr/>
          <p:nvPr/>
        </p:nvSpPr>
        <p:spPr>
          <a:xfrm>
            <a:off x="1368552" y="1979675"/>
            <a:ext cx="6987540" cy="433069"/>
          </a:xfrm>
          <a:custGeom>
            <a:rect b="b" l="l" r="r" t="t"/>
            <a:pathLst>
              <a:path extrusionOk="0" h="433069" w="6987540">
                <a:moveTo>
                  <a:pt x="6944233" y="0"/>
                </a:moveTo>
                <a:lnTo>
                  <a:pt x="43306" y="0"/>
                </a:lnTo>
                <a:lnTo>
                  <a:pt x="26467" y="3409"/>
                </a:lnTo>
                <a:lnTo>
                  <a:pt x="12700" y="12700"/>
                </a:lnTo>
                <a:lnTo>
                  <a:pt x="3409" y="26467"/>
                </a:lnTo>
                <a:lnTo>
                  <a:pt x="0" y="43307"/>
                </a:lnTo>
                <a:lnTo>
                  <a:pt x="0" y="389509"/>
                </a:lnTo>
                <a:lnTo>
                  <a:pt x="3409" y="406348"/>
                </a:lnTo>
                <a:lnTo>
                  <a:pt x="12700" y="420115"/>
                </a:lnTo>
                <a:lnTo>
                  <a:pt x="26467" y="429406"/>
                </a:lnTo>
                <a:lnTo>
                  <a:pt x="43306" y="432815"/>
                </a:lnTo>
                <a:lnTo>
                  <a:pt x="6944233" y="432815"/>
                </a:lnTo>
                <a:lnTo>
                  <a:pt x="6961072" y="429406"/>
                </a:lnTo>
                <a:lnTo>
                  <a:pt x="6974840" y="420116"/>
                </a:lnTo>
                <a:lnTo>
                  <a:pt x="6984130" y="406348"/>
                </a:lnTo>
                <a:lnTo>
                  <a:pt x="6987540" y="389509"/>
                </a:lnTo>
                <a:lnTo>
                  <a:pt x="6987540" y="43307"/>
                </a:lnTo>
                <a:lnTo>
                  <a:pt x="6984130" y="26467"/>
                </a:lnTo>
                <a:lnTo>
                  <a:pt x="6974840" y="12700"/>
                </a:lnTo>
                <a:lnTo>
                  <a:pt x="6961072" y="3409"/>
                </a:lnTo>
                <a:lnTo>
                  <a:pt x="6944233" y="0"/>
                </a:lnTo>
                <a:close/>
              </a:path>
            </a:pathLst>
          </a:custGeom>
          <a:solidFill>
            <a:srgbClr val="CFD4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1368552" y="2520695"/>
            <a:ext cx="6987540" cy="433070"/>
          </a:xfrm>
          <a:custGeom>
            <a:rect b="b" l="l" r="r" t="t"/>
            <a:pathLst>
              <a:path extrusionOk="0" h="433070" w="6987540">
                <a:moveTo>
                  <a:pt x="6944233" y="0"/>
                </a:moveTo>
                <a:lnTo>
                  <a:pt x="43306" y="0"/>
                </a:lnTo>
                <a:lnTo>
                  <a:pt x="26467" y="3409"/>
                </a:lnTo>
                <a:lnTo>
                  <a:pt x="12700" y="12699"/>
                </a:lnTo>
                <a:lnTo>
                  <a:pt x="3409" y="26467"/>
                </a:lnTo>
                <a:lnTo>
                  <a:pt x="0" y="43306"/>
                </a:lnTo>
                <a:lnTo>
                  <a:pt x="0" y="389508"/>
                </a:lnTo>
                <a:lnTo>
                  <a:pt x="3409" y="406348"/>
                </a:lnTo>
                <a:lnTo>
                  <a:pt x="12700" y="420115"/>
                </a:lnTo>
                <a:lnTo>
                  <a:pt x="26467" y="429406"/>
                </a:lnTo>
                <a:lnTo>
                  <a:pt x="43306" y="432815"/>
                </a:lnTo>
                <a:lnTo>
                  <a:pt x="6944233" y="432815"/>
                </a:lnTo>
                <a:lnTo>
                  <a:pt x="6961072" y="429406"/>
                </a:lnTo>
                <a:lnTo>
                  <a:pt x="6974840" y="420115"/>
                </a:lnTo>
                <a:lnTo>
                  <a:pt x="6984130" y="406348"/>
                </a:lnTo>
                <a:lnTo>
                  <a:pt x="6987540" y="389508"/>
                </a:lnTo>
                <a:lnTo>
                  <a:pt x="6987540" y="43306"/>
                </a:lnTo>
                <a:lnTo>
                  <a:pt x="6984130" y="26467"/>
                </a:lnTo>
                <a:lnTo>
                  <a:pt x="6974840" y="12700"/>
                </a:lnTo>
                <a:lnTo>
                  <a:pt x="6961072" y="3409"/>
                </a:lnTo>
                <a:lnTo>
                  <a:pt x="6944233" y="0"/>
                </a:lnTo>
                <a:close/>
              </a:path>
            </a:pathLst>
          </a:custGeom>
          <a:solidFill>
            <a:srgbClr val="CFD4E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4"/>
          <p:cNvGrpSpPr/>
          <p:nvPr/>
        </p:nvGrpSpPr>
        <p:grpSpPr>
          <a:xfrm>
            <a:off x="1368552" y="3061715"/>
            <a:ext cx="6987540" cy="433070"/>
            <a:chOff x="1368552" y="3366515"/>
            <a:chExt cx="6987540" cy="433070"/>
          </a:xfrm>
        </p:grpSpPr>
        <p:sp>
          <p:nvSpPr>
            <p:cNvPr id="106" name="Google Shape;106;p14"/>
            <p:cNvSpPr/>
            <p:nvPr/>
          </p:nvSpPr>
          <p:spPr>
            <a:xfrm>
              <a:off x="1368552" y="3366515"/>
              <a:ext cx="6987540" cy="433070"/>
            </a:xfrm>
            <a:custGeom>
              <a:rect b="b" l="l" r="r" t="t"/>
              <a:pathLst>
                <a:path extrusionOk="0" h="433070" w="6987540">
                  <a:moveTo>
                    <a:pt x="6944233" y="0"/>
                  </a:moveTo>
                  <a:lnTo>
                    <a:pt x="43306" y="0"/>
                  </a:lnTo>
                  <a:lnTo>
                    <a:pt x="26467" y="3409"/>
                  </a:lnTo>
                  <a:lnTo>
                    <a:pt x="12700" y="12700"/>
                  </a:lnTo>
                  <a:lnTo>
                    <a:pt x="3409" y="26467"/>
                  </a:lnTo>
                  <a:lnTo>
                    <a:pt x="0" y="43307"/>
                  </a:lnTo>
                  <a:lnTo>
                    <a:pt x="0" y="389509"/>
                  </a:lnTo>
                  <a:lnTo>
                    <a:pt x="3409" y="406348"/>
                  </a:lnTo>
                  <a:lnTo>
                    <a:pt x="12700" y="420116"/>
                  </a:lnTo>
                  <a:lnTo>
                    <a:pt x="26467" y="429406"/>
                  </a:lnTo>
                  <a:lnTo>
                    <a:pt x="43306" y="432816"/>
                  </a:lnTo>
                  <a:lnTo>
                    <a:pt x="6944233" y="432816"/>
                  </a:lnTo>
                  <a:lnTo>
                    <a:pt x="6961072" y="429406"/>
                  </a:lnTo>
                  <a:lnTo>
                    <a:pt x="6974840" y="420116"/>
                  </a:lnTo>
                  <a:lnTo>
                    <a:pt x="6984130" y="406348"/>
                  </a:lnTo>
                  <a:lnTo>
                    <a:pt x="6987540" y="389509"/>
                  </a:lnTo>
                  <a:lnTo>
                    <a:pt x="6987540" y="43307"/>
                  </a:lnTo>
                  <a:lnTo>
                    <a:pt x="6984130" y="26467"/>
                  </a:lnTo>
                  <a:lnTo>
                    <a:pt x="6974840" y="12700"/>
                  </a:lnTo>
                  <a:lnTo>
                    <a:pt x="6961072" y="3409"/>
                  </a:lnTo>
                  <a:lnTo>
                    <a:pt x="6944233" y="0"/>
                  </a:lnTo>
                  <a:close/>
                </a:path>
              </a:pathLst>
            </a:custGeom>
            <a:solidFill>
              <a:srgbClr val="CFD4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7" name="Google Shape;10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93266" y="3457701"/>
              <a:ext cx="250444" cy="2504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14"/>
          <p:cNvGrpSpPr/>
          <p:nvPr/>
        </p:nvGrpSpPr>
        <p:grpSpPr>
          <a:xfrm>
            <a:off x="1368552" y="3602735"/>
            <a:ext cx="6987540" cy="434339"/>
            <a:chOff x="1368552" y="3907535"/>
            <a:chExt cx="6987540" cy="434339"/>
          </a:xfrm>
        </p:grpSpPr>
        <p:sp>
          <p:nvSpPr>
            <p:cNvPr id="109" name="Google Shape;109;p14"/>
            <p:cNvSpPr/>
            <p:nvPr/>
          </p:nvSpPr>
          <p:spPr>
            <a:xfrm>
              <a:off x="1368552" y="3907535"/>
              <a:ext cx="6987540" cy="434339"/>
            </a:xfrm>
            <a:custGeom>
              <a:rect b="b" l="l" r="r" t="t"/>
              <a:pathLst>
                <a:path extrusionOk="0" h="434339" w="6987540">
                  <a:moveTo>
                    <a:pt x="6944106" y="0"/>
                  </a:moveTo>
                  <a:lnTo>
                    <a:pt x="43434" y="0"/>
                  </a:lnTo>
                  <a:lnTo>
                    <a:pt x="26521" y="3411"/>
                  </a:lnTo>
                  <a:lnTo>
                    <a:pt x="12715" y="12715"/>
                  </a:lnTo>
                  <a:lnTo>
                    <a:pt x="3411" y="26521"/>
                  </a:lnTo>
                  <a:lnTo>
                    <a:pt x="0" y="43433"/>
                  </a:lnTo>
                  <a:lnTo>
                    <a:pt x="0" y="390906"/>
                  </a:lnTo>
                  <a:lnTo>
                    <a:pt x="3411" y="407818"/>
                  </a:lnTo>
                  <a:lnTo>
                    <a:pt x="12715" y="421624"/>
                  </a:lnTo>
                  <a:lnTo>
                    <a:pt x="26521" y="430928"/>
                  </a:lnTo>
                  <a:lnTo>
                    <a:pt x="43434" y="434339"/>
                  </a:lnTo>
                  <a:lnTo>
                    <a:pt x="6944106" y="434339"/>
                  </a:lnTo>
                  <a:lnTo>
                    <a:pt x="6961018" y="430928"/>
                  </a:lnTo>
                  <a:lnTo>
                    <a:pt x="6974824" y="421624"/>
                  </a:lnTo>
                  <a:lnTo>
                    <a:pt x="6984128" y="407818"/>
                  </a:lnTo>
                  <a:lnTo>
                    <a:pt x="6987540" y="390906"/>
                  </a:lnTo>
                  <a:lnTo>
                    <a:pt x="6987540" y="43433"/>
                  </a:lnTo>
                  <a:lnTo>
                    <a:pt x="6984128" y="26521"/>
                  </a:lnTo>
                  <a:lnTo>
                    <a:pt x="6974824" y="12715"/>
                  </a:lnTo>
                  <a:lnTo>
                    <a:pt x="6961018" y="3411"/>
                  </a:lnTo>
                  <a:lnTo>
                    <a:pt x="6944106" y="0"/>
                  </a:lnTo>
                  <a:close/>
                </a:path>
              </a:pathLst>
            </a:custGeom>
            <a:solidFill>
              <a:srgbClr val="CFD4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" name="Google Shape;110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93266" y="3998721"/>
              <a:ext cx="250444" cy="2519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" name="Google Shape;111;p14"/>
          <p:cNvGrpSpPr/>
          <p:nvPr/>
        </p:nvGrpSpPr>
        <p:grpSpPr>
          <a:xfrm>
            <a:off x="1368552" y="4143755"/>
            <a:ext cx="6987540" cy="433070"/>
            <a:chOff x="1368552" y="4450079"/>
            <a:chExt cx="6987540" cy="433070"/>
          </a:xfrm>
        </p:grpSpPr>
        <p:sp>
          <p:nvSpPr>
            <p:cNvPr id="112" name="Google Shape;112;p14"/>
            <p:cNvSpPr/>
            <p:nvPr/>
          </p:nvSpPr>
          <p:spPr>
            <a:xfrm>
              <a:off x="1368552" y="4450079"/>
              <a:ext cx="6987540" cy="433070"/>
            </a:xfrm>
            <a:custGeom>
              <a:rect b="b" l="l" r="r" t="t"/>
              <a:pathLst>
                <a:path extrusionOk="0" h="433070" w="6987540">
                  <a:moveTo>
                    <a:pt x="6944233" y="0"/>
                  </a:moveTo>
                  <a:lnTo>
                    <a:pt x="43306" y="0"/>
                  </a:lnTo>
                  <a:lnTo>
                    <a:pt x="26467" y="3409"/>
                  </a:lnTo>
                  <a:lnTo>
                    <a:pt x="12700" y="12700"/>
                  </a:lnTo>
                  <a:lnTo>
                    <a:pt x="3409" y="26467"/>
                  </a:lnTo>
                  <a:lnTo>
                    <a:pt x="0" y="43307"/>
                  </a:lnTo>
                  <a:lnTo>
                    <a:pt x="0" y="389509"/>
                  </a:lnTo>
                  <a:lnTo>
                    <a:pt x="3409" y="406348"/>
                  </a:lnTo>
                  <a:lnTo>
                    <a:pt x="12700" y="420116"/>
                  </a:lnTo>
                  <a:lnTo>
                    <a:pt x="26467" y="429406"/>
                  </a:lnTo>
                  <a:lnTo>
                    <a:pt x="43306" y="432816"/>
                  </a:lnTo>
                  <a:lnTo>
                    <a:pt x="6944233" y="432816"/>
                  </a:lnTo>
                  <a:lnTo>
                    <a:pt x="6961072" y="429406"/>
                  </a:lnTo>
                  <a:lnTo>
                    <a:pt x="6974840" y="420116"/>
                  </a:lnTo>
                  <a:lnTo>
                    <a:pt x="6984130" y="406348"/>
                  </a:lnTo>
                  <a:lnTo>
                    <a:pt x="6987540" y="389509"/>
                  </a:lnTo>
                  <a:lnTo>
                    <a:pt x="6987540" y="43307"/>
                  </a:lnTo>
                  <a:lnTo>
                    <a:pt x="6984130" y="26467"/>
                  </a:lnTo>
                  <a:lnTo>
                    <a:pt x="6974840" y="12700"/>
                  </a:lnTo>
                  <a:lnTo>
                    <a:pt x="6961072" y="3409"/>
                  </a:lnTo>
                  <a:lnTo>
                    <a:pt x="6944233" y="0"/>
                  </a:lnTo>
                  <a:close/>
                </a:path>
              </a:pathLst>
            </a:custGeom>
            <a:solidFill>
              <a:srgbClr val="CFD4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3" name="Google Shape;113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93266" y="4541265"/>
              <a:ext cx="250444" cy="2504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4"/>
          <p:cNvSpPr txBox="1"/>
          <p:nvPr/>
        </p:nvSpPr>
        <p:spPr>
          <a:xfrm>
            <a:off x="11068557" y="6465214"/>
            <a:ext cx="2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737750" y="1438655"/>
            <a:ext cx="5952600" cy="43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non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Gap and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737750" y="1979675"/>
            <a:ext cx="5952600" cy="43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non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Planning and Initiation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1737750" y="2520695"/>
            <a:ext cx="5952600" cy="43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none" tIns="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737750" y="3061715"/>
            <a:ext cx="5952600" cy="43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none" tIns="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User and Tentative Elicitation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737750" y="3602735"/>
            <a:ext cx="5952600" cy="434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none" tIns="0">
            <a:spAutoFit/>
          </a:bodyPr>
          <a:lstStyle/>
          <a:p>
            <a:pPr indent="0" lvl="0" marL="12700" marR="16929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Scheduling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737750" y="4143755"/>
            <a:ext cx="5952600" cy="43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none" tIns="0">
            <a:spAutoFit/>
          </a:bodyPr>
          <a:lstStyle/>
          <a:p>
            <a:pPr indent="0" lvl="0" marL="12700" marR="16929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Requirements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14"/>
          <p:cNvGrpSpPr/>
          <p:nvPr/>
        </p:nvGrpSpPr>
        <p:grpSpPr>
          <a:xfrm>
            <a:off x="1368552" y="4684775"/>
            <a:ext cx="6987540" cy="433070"/>
            <a:chOff x="1368552" y="4450079"/>
            <a:chExt cx="6987540" cy="433070"/>
          </a:xfrm>
        </p:grpSpPr>
        <p:sp>
          <p:nvSpPr>
            <p:cNvPr id="122" name="Google Shape;122;p14"/>
            <p:cNvSpPr/>
            <p:nvPr/>
          </p:nvSpPr>
          <p:spPr>
            <a:xfrm>
              <a:off x="1368552" y="4450079"/>
              <a:ext cx="6987540" cy="433070"/>
            </a:xfrm>
            <a:custGeom>
              <a:rect b="b" l="l" r="r" t="t"/>
              <a:pathLst>
                <a:path extrusionOk="0" h="433070" w="6987540">
                  <a:moveTo>
                    <a:pt x="6944233" y="0"/>
                  </a:moveTo>
                  <a:lnTo>
                    <a:pt x="43306" y="0"/>
                  </a:lnTo>
                  <a:lnTo>
                    <a:pt x="26467" y="3409"/>
                  </a:lnTo>
                  <a:lnTo>
                    <a:pt x="12700" y="12700"/>
                  </a:lnTo>
                  <a:lnTo>
                    <a:pt x="3409" y="26467"/>
                  </a:lnTo>
                  <a:lnTo>
                    <a:pt x="0" y="43307"/>
                  </a:lnTo>
                  <a:lnTo>
                    <a:pt x="0" y="389509"/>
                  </a:lnTo>
                  <a:lnTo>
                    <a:pt x="3409" y="406348"/>
                  </a:lnTo>
                  <a:lnTo>
                    <a:pt x="12700" y="420116"/>
                  </a:lnTo>
                  <a:lnTo>
                    <a:pt x="26467" y="429406"/>
                  </a:lnTo>
                  <a:lnTo>
                    <a:pt x="43306" y="432816"/>
                  </a:lnTo>
                  <a:lnTo>
                    <a:pt x="6944233" y="432816"/>
                  </a:lnTo>
                  <a:lnTo>
                    <a:pt x="6961072" y="429406"/>
                  </a:lnTo>
                  <a:lnTo>
                    <a:pt x="6974840" y="420116"/>
                  </a:lnTo>
                  <a:lnTo>
                    <a:pt x="6984130" y="406348"/>
                  </a:lnTo>
                  <a:lnTo>
                    <a:pt x="6987540" y="389509"/>
                  </a:lnTo>
                  <a:lnTo>
                    <a:pt x="6987540" y="43307"/>
                  </a:lnTo>
                  <a:lnTo>
                    <a:pt x="6984130" y="26467"/>
                  </a:lnTo>
                  <a:lnTo>
                    <a:pt x="6974840" y="12700"/>
                  </a:lnTo>
                  <a:lnTo>
                    <a:pt x="6961072" y="3409"/>
                  </a:lnTo>
                  <a:lnTo>
                    <a:pt x="6944233" y="0"/>
                  </a:lnTo>
                  <a:close/>
                </a:path>
              </a:pathLst>
            </a:custGeom>
            <a:solidFill>
              <a:srgbClr val="CFD4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3" name="Google Shape;123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93266" y="4541265"/>
              <a:ext cx="250444" cy="2504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4"/>
          <p:cNvSpPr txBox="1"/>
          <p:nvPr/>
        </p:nvSpPr>
        <p:spPr>
          <a:xfrm>
            <a:off x="1737750" y="4684775"/>
            <a:ext cx="5952600" cy="43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none" tIns="0">
            <a:spAutoFit/>
          </a:bodyPr>
          <a:lstStyle/>
          <a:p>
            <a:pPr indent="0" lvl="0" marL="12700" marR="16929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4" title="daffodil-international-university-logo-png_seeklogo-361757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266" y="2070987"/>
            <a:ext cx="250444" cy="25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266" y="2612008"/>
            <a:ext cx="250444" cy="250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640080" y="2560320"/>
            <a:ext cx="8686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Gap and Scope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pic>
        <p:nvPicPr>
          <p:cNvPr id="134" name="Google Shape;134;p15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640080" y="1554480"/>
            <a:ext cx="10881300" cy="786300"/>
          </a:xfrm>
          <a:prstGeom prst="roundRect">
            <a:avLst>
              <a:gd fmla="val 14000" name="adj"/>
            </a:avLst>
          </a:prstGeom>
          <a:solidFill>
            <a:srgbClr val="EFF0F2"/>
          </a:solidFill>
          <a:ln cap="flat" cmpd="sng" w="12700">
            <a:solidFill>
              <a:srgbClr val="E4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22960" y="1700784"/>
            <a:ext cx="493800" cy="493800"/>
          </a:xfrm>
          <a:prstGeom prst="ellipse">
            <a:avLst/>
          </a:prstGeom>
          <a:solidFill>
            <a:srgbClr val="1F8A8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554480" y="1805260"/>
            <a:ext cx="97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Build a Unified Patient Health Record with one lifelong Health ID (UHID) nationwide.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640080" y="2487168"/>
            <a:ext cx="10881300" cy="786300"/>
          </a:xfrm>
          <a:prstGeom prst="roundRect">
            <a:avLst>
              <a:gd fmla="val 14000" name="adj"/>
            </a:avLst>
          </a:prstGeom>
          <a:solidFill>
            <a:srgbClr val="EFF0F2"/>
          </a:solidFill>
          <a:ln cap="flat" cmpd="sng" w="12700">
            <a:solidFill>
              <a:srgbClr val="E4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822960" y="2633472"/>
            <a:ext cx="493800" cy="493800"/>
          </a:xfrm>
          <a:prstGeom prst="ellipse">
            <a:avLst/>
          </a:prstGeom>
          <a:solidFill>
            <a:srgbClr val="1F8A8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554480" y="2695656"/>
            <a:ext cx="97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Give patients full control via OTP-based, session-scoped consent.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40080" y="3419856"/>
            <a:ext cx="10881300" cy="786300"/>
          </a:xfrm>
          <a:prstGeom prst="roundRect">
            <a:avLst>
              <a:gd fmla="val 14000" name="adj"/>
            </a:avLst>
          </a:prstGeom>
          <a:solidFill>
            <a:srgbClr val="EFF0F2"/>
          </a:solidFill>
          <a:ln cap="flat" cmpd="sng" w="12700">
            <a:solidFill>
              <a:srgbClr val="E4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22960" y="3566160"/>
            <a:ext cx="493800" cy="493800"/>
          </a:xfrm>
          <a:prstGeom prst="ellipse">
            <a:avLst/>
          </a:prstGeom>
          <a:solidFill>
            <a:srgbClr val="1F8A8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554475" y="3628300"/>
            <a:ext cx="97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Provide AI clinical summaries with drug-interaction &amp; allergy alerts (Gemini).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640080" y="4352544"/>
            <a:ext cx="10881300" cy="786300"/>
          </a:xfrm>
          <a:prstGeom prst="roundRect">
            <a:avLst>
              <a:gd fmla="val 14000" name="adj"/>
            </a:avLst>
          </a:prstGeom>
          <a:solidFill>
            <a:srgbClr val="EFF0F2"/>
          </a:solidFill>
          <a:ln cap="flat" cmpd="sng" w="12700">
            <a:solidFill>
              <a:srgbClr val="E4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22960" y="4498848"/>
            <a:ext cx="493800" cy="493800"/>
          </a:xfrm>
          <a:prstGeom prst="ellipse">
            <a:avLst/>
          </a:prstGeom>
          <a:solidFill>
            <a:srgbClr val="1F8A8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554480" y="4560994"/>
            <a:ext cx="97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Secure all data with AES-256 encryption and an immutable, patient-visible audit log.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40080" y="5285231"/>
            <a:ext cx="10881300" cy="786300"/>
          </a:xfrm>
          <a:prstGeom prst="roundRect">
            <a:avLst>
              <a:gd fmla="val 14000" name="adj"/>
            </a:avLst>
          </a:prstGeom>
          <a:solidFill>
            <a:srgbClr val="EFF0F2"/>
          </a:solidFill>
          <a:ln cap="flat" cmpd="sng" w="12700">
            <a:solidFill>
              <a:srgbClr val="E4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822960" y="5431536"/>
            <a:ext cx="493800" cy="493800"/>
          </a:xfrm>
          <a:prstGeom prst="ellipse">
            <a:avLst/>
          </a:prstGeom>
          <a:solidFill>
            <a:srgbClr val="1F8A8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554480" y="5493681"/>
            <a:ext cx="97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Verify doctors via BMDC and enable verified lab report uploads.</a:t>
            </a:r>
            <a:endParaRPr/>
          </a:p>
        </p:txBody>
      </p:sp>
      <p:pic>
        <p:nvPicPr>
          <p:cNvPr id="156" name="Google Shape;156;p16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Gap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640080" y="1600200"/>
            <a:ext cx="3566100" cy="2103000"/>
          </a:xfrm>
          <a:prstGeom prst="roundRect">
            <a:avLst>
              <a:gd fmla="val 6000" name="adj"/>
            </a:avLst>
          </a:prstGeom>
          <a:solidFill>
            <a:srgbClr val="F8E1DE"/>
          </a:solidFill>
          <a:ln cap="flat" cmpd="sng" w="12700">
            <a:solidFill>
              <a:srgbClr val="E6C4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40080" y="1600200"/>
            <a:ext cx="128100" cy="210300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96112" y="1764792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53A2E"/>
                </a:solidFill>
                <a:latin typeface="Georgia"/>
                <a:ea typeface="Georgia"/>
                <a:cs typeface="Georgia"/>
                <a:sym typeface="Georgia"/>
              </a:rPr>
              <a:t>Fragmented Records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96112" y="237744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Patient data scattered across hospitals &amp; labs — mostly on paper.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4434840" y="1600200"/>
            <a:ext cx="3566100" cy="2103000"/>
          </a:xfrm>
          <a:prstGeom prst="roundRect">
            <a:avLst>
              <a:gd fmla="val 6000" name="adj"/>
            </a:avLst>
          </a:prstGeom>
          <a:solidFill>
            <a:srgbClr val="F8E1DE"/>
          </a:solidFill>
          <a:ln cap="flat" cmpd="sng" w="12700">
            <a:solidFill>
              <a:srgbClr val="E6C4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4434840" y="1600200"/>
            <a:ext cx="128100" cy="210300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4690872" y="1764792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53A2E"/>
                </a:solidFill>
                <a:latin typeface="Georgia"/>
                <a:ea typeface="Georgia"/>
                <a:cs typeface="Georgia"/>
                <a:sym typeface="Georgia"/>
              </a:rPr>
              <a:t>No Unified Identity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690872" y="237744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lifelong patient ID linking a citizen's full health history.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8229600" y="1600200"/>
            <a:ext cx="3566100" cy="2103000"/>
          </a:xfrm>
          <a:prstGeom prst="roundRect">
            <a:avLst>
              <a:gd fmla="val 6000" name="adj"/>
            </a:avLst>
          </a:prstGeom>
          <a:solidFill>
            <a:srgbClr val="F8E1DE"/>
          </a:solidFill>
          <a:ln cap="flat" cmpd="sng" w="12700">
            <a:solidFill>
              <a:srgbClr val="E6C4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8229600" y="1600200"/>
            <a:ext cx="128100" cy="210300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485632" y="1764792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53A2E"/>
                </a:solidFill>
                <a:latin typeface="Georgia"/>
                <a:ea typeface="Georgia"/>
                <a:cs typeface="Georgia"/>
                <a:sym typeface="Georgia"/>
              </a:rPr>
              <a:t>History Unavailable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485632" y="237744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New doctors can't see past diseases, allergies, or medications.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640080" y="3931920"/>
            <a:ext cx="3566100" cy="2103000"/>
          </a:xfrm>
          <a:prstGeom prst="roundRect">
            <a:avLst>
              <a:gd fmla="val 6000" name="adj"/>
            </a:avLst>
          </a:prstGeom>
          <a:solidFill>
            <a:srgbClr val="F8E1DE"/>
          </a:solidFill>
          <a:ln cap="flat" cmpd="sng" w="12700">
            <a:solidFill>
              <a:srgbClr val="E6C4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40080" y="3931920"/>
            <a:ext cx="128100" cy="210300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896112" y="4096511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53A2E"/>
                </a:solidFill>
                <a:latin typeface="Georgia"/>
                <a:ea typeface="Georgia"/>
                <a:cs typeface="Georgia"/>
                <a:sym typeface="Georgia"/>
              </a:rPr>
              <a:t>Repeated Tests &amp; Risk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96112" y="4709159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Leads to redundant tests, misdiagnosis &amp; drug-interaction danger.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4434840" y="3931920"/>
            <a:ext cx="3566100" cy="2103000"/>
          </a:xfrm>
          <a:prstGeom prst="roundRect">
            <a:avLst>
              <a:gd fmla="val 6000" name="adj"/>
            </a:avLst>
          </a:prstGeom>
          <a:solidFill>
            <a:srgbClr val="F8E1DE"/>
          </a:solidFill>
          <a:ln cap="flat" cmpd="sng" w="12700">
            <a:solidFill>
              <a:srgbClr val="E6C4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434840" y="3931920"/>
            <a:ext cx="128100" cy="210300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4690872" y="4096511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53A2E"/>
                </a:solidFill>
                <a:latin typeface="Georgia"/>
                <a:ea typeface="Georgia"/>
                <a:cs typeface="Georgia"/>
                <a:sym typeface="Georgia"/>
              </a:rPr>
              <a:t>No Patient Control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4690872" y="4709159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Patients can't see or control who accesses their health data.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8229600" y="3931920"/>
            <a:ext cx="3566100" cy="2103000"/>
          </a:xfrm>
          <a:prstGeom prst="roundRect">
            <a:avLst>
              <a:gd fmla="val 6000" name="adj"/>
            </a:avLst>
          </a:prstGeom>
          <a:solidFill>
            <a:srgbClr val="F8E1DE"/>
          </a:solidFill>
          <a:ln cap="flat" cmpd="sng" w="12700">
            <a:solidFill>
              <a:srgbClr val="E6C4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229600" y="3931920"/>
            <a:ext cx="128100" cy="210300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8485632" y="4096511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53A2E"/>
                </a:solidFill>
                <a:latin typeface="Georgia"/>
                <a:ea typeface="Georgia"/>
                <a:cs typeface="Georgia"/>
                <a:sym typeface="Georgia"/>
              </a:rPr>
              <a:t>No AI / Audit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485632" y="4709159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Existing systems lack AI summaries &amp; transparent audit trails.</a:t>
            </a:r>
            <a:endParaRPr/>
          </a:p>
        </p:txBody>
      </p:sp>
      <p:pic>
        <p:nvPicPr>
          <p:cNvPr id="188" name="Google Shape;188;p17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40080" y="1554480"/>
            <a:ext cx="6766500" cy="44805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E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40080" y="1554480"/>
            <a:ext cx="6766500" cy="502800"/>
          </a:xfrm>
          <a:prstGeom prst="roundRect">
            <a:avLst>
              <a:gd fmla="val 10000" name="adj"/>
            </a:avLst>
          </a:prstGeom>
          <a:solidFill>
            <a:srgbClr val="3E8E4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✔  In Scope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804671" y="2176272"/>
            <a:ext cx="6455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Role-based platform: Patient, Doctor, Lab, Admin.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Unique lifelong Unified Health ID (UHID).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OTP-based, session-scoped consent access.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AI clinical summary + interaction / allergy alerts.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AES-256 encrypted records &amp; lab reports (PDF).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Mock BMDC doctor verification.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Immutable, patient-visible audit log.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7680960" y="1554480"/>
            <a:ext cx="3840600" cy="44805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E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680960" y="1554480"/>
            <a:ext cx="3840600" cy="502800"/>
          </a:xfrm>
          <a:prstGeom prst="roundRect">
            <a:avLst>
              <a:gd fmla="val 10000" name="adj"/>
            </a:avLst>
          </a:prstGeom>
          <a:solidFill>
            <a:srgbClr val="8A8A8A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✘  Out of Scope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845552" y="2176272"/>
            <a:ext cx="3529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Telemedicine / video consultation.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Online payment gateways.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Autonomous AI diagnosis.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Real BMDC / NID integration.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Hospital-grade device integration.</a:t>
            </a:r>
            <a:endParaRPr/>
          </a:p>
        </p:txBody>
      </p:sp>
      <p:pic>
        <p:nvPicPr>
          <p:cNvPr id="202" name="Google Shape;202;p18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Planning and Initiation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210" name="Google Shape;210;p19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>Methodology: Agile / iterative development — delivered in five incremental phases.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1463040" y="2788920"/>
            <a:ext cx="9235500" cy="54900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1051560" y="2148840"/>
            <a:ext cx="1280100" cy="1280100"/>
          </a:xfrm>
          <a:prstGeom prst="ellipse">
            <a:avLst/>
          </a:prstGeom>
          <a:solidFill>
            <a:srgbClr val="1F8A8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94359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Requirement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48639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Problem study, gap analysis &amp; requirement gathering.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3246120" y="2148840"/>
            <a:ext cx="1280100" cy="128010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2788920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System Design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2743200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 Case, Activity, Sequence &amp; ERD in draw.io.</a:t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5440679" y="2148840"/>
            <a:ext cx="1280100" cy="1280100"/>
          </a:xfrm>
          <a:prstGeom prst="ellipse">
            <a:avLst/>
          </a:prstGeom>
          <a:solidFill>
            <a:srgbClr val="E0752D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4983479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Development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4937759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PostgreSQL + Prisma, REST APIs &amp; Gemini AI integration.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7635240" y="2148840"/>
            <a:ext cx="1280100" cy="1280100"/>
          </a:xfrm>
          <a:prstGeom prst="ellipse">
            <a:avLst/>
          </a:prstGeom>
          <a:solidFill>
            <a:srgbClr val="77529E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7178040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Frontend &amp; Security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7132320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React UI, OTP consent, AES-256 &amp; audit logging.</a:t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9829800" y="2148840"/>
            <a:ext cx="1280100" cy="1280100"/>
          </a:xfrm>
          <a:prstGeom prst="ellipse">
            <a:avLst/>
          </a:prstGeom>
          <a:solidFill>
            <a:srgbClr val="3E8E4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9372600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Testing &amp; Deploy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9326880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Unit / integration testing, evaluation &amp; deployment.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Study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640080" y="1600200"/>
            <a:ext cx="5257800" cy="2057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40080" y="1600200"/>
            <a:ext cx="146400" cy="2057400"/>
          </a:xfrm>
          <a:prstGeom prst="rect">
            <a:avLst/>
          </a:prstGeom>
          <a:solidFill>
            <a:srgbClr val="1F8A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960119" y="1783080"/>
            <a:ext cx="48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8A87"/>
                </a:solidFill>
                <a:latin typeface="Georgia"/>
                <a:ea typeface="Georgia"/>
                <a:cs typeface="Georgia"/>
                <a:sym typeface="Georgia"/>
              </a:rPr>
              <a:t>Technical Feasibility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60119" y="2377440"/>
            <a:ext cx="470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Proven, documented tech — Node.js, PostgreSQL, React, Gemini API.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6263640" y="1600200"/>
            <a:ext cx="5257800" cy="2057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263640" y="1600200"/>
            <a:ext cx="146400" cy="2057400"/>
          </a:xfrm>
          <a:prstGeom prst="rect">
            <a:avLst/>
          </a:prstGeom>
          <a:solidFill>
            <a:srgbClr val="3E8E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583679" y="1783080"/>
            <a:ext cx="48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E8E4F"/>
                </a:solidFill>
                <a:latin typeface="Georgia"/>
                <a:ea typeface="Georgia"/>
                <a:cs typeface="Georgia"/>
                <a:sym typeface="Georgia"/>
              </a:rPr>
              <a:t>Economic Feasibility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583679" y="2377440"/>
            <a:ext cx="470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Open-source stack + low-cost cloud hosting; affordable for a capstone.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640080" y="3840480"/>
            <a:ext cx="5257800" cy="2057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40080" y="3840480"/>
            <a:ext cx="146400" cy="205740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960119" y="4023360"/>
            <a:ext cx="48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F6FB5"/>
                </a:solidFill>
                <a:latin typeface="Georgia"/>
                <a:ea typeface="Georgia"/>
                <a:cs typeface="Georgia"/>
                <a:sym typeface="Georgia"/>
              </a:rPr>
              <a:t>Operational Feasibility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960119" y="4617720"/>
            <a:ext cx="470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Simple, mobile-responsive role-based UI fit for BD healthcare.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6263640" y="3840480"/>
            <a:ext cx="5257800" cy="2057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263640" y="3840480"/>
            <a:ext cx="146400" cy="2057400"/>
          </a:xfrm>
          <a:prstGeom prst="rect">
            <a:avLst/>
          </a:prstGeom>
          <a:solidFill>
            <a:srgbClr val="E075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6583679" y="4023360"/>
            <a:ext cx="48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E0752D"/>
                </a:solidFill>
                <a:latin typeface="Georgia"/>
                <a:ea typeface="Georgia"/>
                <a:cs typeface="Georgia"/>
                <a:sym typeface="Georgia"/>
              </a:rPr>
              <a:t>Schedule Feasibility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583679" y="4617720"/>
            <a:ext cx="470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Scope achievable within the capstone timeline via an iterative plan.</a:t>
            </a:r>
            <a:endParaRPr/>
          </a:p>
        </p:txBody>
      </p:sp>
      <p:pic>
        <p:nvPicPr>
          <p:cNvPr id="234" name="Google Shape;234;p20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/>
        </p:nvSpPr>
        <p:spPr>
          <a:xfrm>
            <a:off x="640080" y="2560320"/>
            <a:ext cx="8686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Users and Tentative Elicitation Process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pic>
        <p:nvPicPr>
          <p:cNvPr id="241" name="Google Shape;241;p21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Users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640080" y="1691640"/>
            <a:ext cx="2697600" cy="4114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40080" y="1691640"/>
            <a:ext cx="2697600" cy="1051500"/>
          </a:xfrm>
          <a:prstGeom prst="roundRect">
            <a:avLst>
              <a:gd fmla="val 6000" name="adj"/>
            </a:avLst>
          </a:prstGeom>
          <a:solidFill>
            <a:srgbClr val="2F6F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640080" y="2194560"/>
            <a:ext cx="2697600" cy="54870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1577339" y="1874519"/>
            <a:ext cx="822900" cy="82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F6FB5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77240" y="2880360"/>
            <a:ext cx="242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F6FB5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868680" y="3566160"/>
            <a:ext cx="224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Data owner; holds UHID and controls access to their history.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3429000" y="1691640"/>
            <a:ext cx="2697600" cy="4114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429000" y="1691640"/>
            <a:ext cx="2697600" cy="1051500"/>
          </a:xfrm>
          <a:prstGeom prst="roundRect">
            <a:avLst>
              <a:gd fmla="val 6000" name="adj"/>
            </a:avLst>
          </a:prstGeom>
          <a:solidFill>
            <a:srgbClr val="E075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3429000" y="2194560"/>
            <a:ext cx="2697600" cy="548700"/>
          </a:xfrm>
          <a:prstGeom prst="rect">
            <a:avLst/>
          </a:prstGeom>
          <a:solidFill>
            <a:srgbClr val="E075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4366259" y="1874519"/>
            <a:ext cx="822900" cy="82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E0752D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3566160" y="2880360"/>
            <a:ext cx="242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E0752D"/>
                </a:solidFill>
                <a:latin typeface="Georgia"/>
                <a:ea typeface="Georgia"/>
                <a:cs typeface="Georgia"/>
                <a:sym typeface="Georgia"/>
              </a:rPr>
              <a:t>Doctor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3657600" y="3566160"/>
            <a:ext cx="224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BMDC-verified clinician; consults &amp; creates verified records.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6217920" y="1691640"/>
            <a:ext cx="2697600" cy="4114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6217920" y="1691640"/>
            <a:ext cx="2697600" cy="1051500"/>
          </a:xfrm>
          <a:prstGeom prst="roundRect">
            <a:avLst>
              <a:gd fmla="val 6000" name="adj"/>
            </a:avLst>
          </a:prstGeom>
          <a:solidFill>
            <a:srgbClr val="7752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6217920" y="2194560"/>
            <a:ext cx="2697600" cy="548700"/>
          </a:xfrm>
          <a:prstGeom prst="rect">
            <a:avLst/>
          </a:prstGeom>
          <a:solidFill>
            <a:srgbClr val="7752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7155180" y="1874519"/>
            <a:ext cx="822900" cy="82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77529E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355080" y="2880360"/>
            <a:ext cx="242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77529E"/>
                </a:solidFill>
                <a:latin typeface="Georgia"/>
                <a:ea typeface="Georgia"/>
                <a:cs typeface="Georgia"/>
                <a:sym typeface="Georgia"/>
              </a:rPr>
              <a:t>Diagnostic Lab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446520" y="3566160"/>
            <a:ext cx="224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Approved center; uploads verified test reports (PDF).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9006839" y="1691640"/>
            <a:ext cx="2697600" cy="4114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9006839" y="1691640"/>
            <a:ext cx="2697600" cy="1051500"/>
          </a:xfrm>
          <a:prstGeom prst="roundRect">
            <a:avLst>
              <a:gd fmla="val 6000" name="adj"/>
            </a:avLst>
          </a:prstGeom>
          <a:solidFill>
            <a:srgbClr val="B5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9006839" y="2194560"/>
            <a:ext cx="2697600" cy="54870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9944099" y="1874519"/>
            <a:ext cx="822900" cy="82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B53A2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9143999" y="2880360"/>
            <a:ext cx="242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B53A2E"/>
                </a:solidFill>
                <a:latin typeface="Georgia"/>
                <a:ea typeface="Georgia"/>
                <a:cs typeface="Georgia"/>
                <a:sym typeface="Georgia"/>
              </a:rPr>
              <a:t>System Admin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9235439" y="3566160"/>
            <a:ext cx="224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Verifies doctors/labs, manages users, monitors activity.</a:t>
            </a:r>
            <a:endParaRPr/>
          </a:p>
        </p:txBody>
      </p:sp>
      <p:pic>
        <p:nvPicPr>
          <p:cNvPr id="273" name="Google Shape;273;p22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Tentative Elicitation Process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1463040" y="2788920"/>
            <a:ext cx="9235500" cy="54900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1051560" y="2148840"/>
            <a:ext cx="1280100" cy="1280100"/>
          </a:xfrm>
          <a:prstGeom prst="ellipse">
            <a:avLst/>
          </a:prstGeom>
          <a:solidFill>
            <a:srgbClr val="1F8A87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94359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Interviews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48639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Patients &amp; doctors — real pain points.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3246120" y="2148840"/>
            <a:ext cx="1280100" cy="128010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2788920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Surveys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2743200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Questionnaires on records &amp; privacy.</a:t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5440679" y="2148840"/>
            <a:ext cx="1280100" cy="1280100"/>
          </a:xfrm>
          <a:prstGeom prst="ellipse">
            <a:avLst/>
          </a:prstGeom>
          <a:solidFill>
            <a:srgbClr val="E0752D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4983479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Observation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4937759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Current hospital record workflows.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7635240" y="2148840"/>
            <a:ext cx="1280100" cy="1280100"/>
          </a:xfrm>
          <a:prstGeom prst="ellipse">
            <a:avLst/>
          </a:prstGeom>
          <a:solidFill>
            <a:srgbClr val="77529E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7178040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Literature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7132320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Study existing health-record systems.</a:t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9829800" y="2148840"/>
            <a:ext cx="1280100" cy="1280100"/>
          </a:xfrm>
          <a:prstGeom prst="ellipse">
            <a:avLst/>
          </a:prstGeom>
          <a:solidFill>
            <a:srgbClr val="3E8E4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9372600" y="356616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Brainstorming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9326880" y="4023360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Sessions with team &amp; supervisor.</a:t>
            </a:r>
            <a:endParaRPr/>
          </a:p>
        </p:txBody>
      </p:sp>
      <p:pic>
        <p:nvPicPr>
          <p:cNvPr id="297" name="Google Shape;297;p23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Scheduling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1280160" y="3429000"/>
            <a:ext cx="9601200" cy="73200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685800" y="1645920"/>
            <a:ext cx="2011800" cy="1554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795528" y="1783080"/>
            <a:ext cx="179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E8E4F"/>
                </a:solidFill>
                <a:latin typeface="Calibri"/>
                <a:ea typeface="Calibri"/>
                <a:cs typeface="Calibri"/>
                <a:sym typeface="Calibri"/>
              </a:rPr>
              <a:t>Week 1-2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777240" y="214884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Requirement</a:t>
            </a:r>
            <a:b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1554480" y="3319272"/>
            <a:ext cx="274200" cy="274200"/>
          </a:xfrm>
          <a:prstGeom prst="ellipse">
            <a:avLst/>
          </a:prstGeom>
          <a:solidFill>
            <a:srgbClr val="3E8E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868680" y="3794760"/>
            <a:ext cx="1645800" cy="457200"/>
          </a:xfrm>
          <a:prstGeom prst="roundRect">
            <a:avLst>
              <a:gd fmla="val 50000" name="adj"/>
            </a:avLst>
          </a:prstGeom>
          <a:solidFill>
            <a:srgbClr val="3E8E4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2926080" y="1645920"/>
            <a:ext cx="2011800" cy="1554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3035808" y="1783080"/>
            <a:ext cx="179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E8E4F"/>
                </a:solidFill>
                <a:latin typeface="Calibri"/>
                <a:ea typeface="Calibri"/>
                <a:cs typeface="Calibri"/>
                <a:sym typeface="Calibri"/>
              </a:rPr>
              <a:t>Week 3-4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3017520" y="214884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System Design</a:t>
            </a:r>
            <a:b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(UML + ERD)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3794760" y="3319272"/>
            <a:ext cx="274200" cy="274200"/>
          </a:xfrm>
          <a:prstGeom prst="ellipse">
            <a:avLst/>
          </a:prstGeom>
          <a:solidFill>
            <a:srgbClr val="3E8E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3108960" y="3794760"/>
            <a:ext cx="1645800" cy="457200"/>
          </a:xfrm>
          <a:prstGeom prst="roundRect">
            <a:avLst>
              <a:gd fmla="val 50000" name="adj"/>
            </a:avLst>
          </a:prstGeom>
          <a:solidFill>
            <a:srgbClr val="3E8E4F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5166360" y="1645920"/>
            <a:ext cx="2011800" cy="1554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5276088" y="1783080"/>
            <a:ext cx="179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0752D"/>
                </a:solidFill>
                <a:latin typeface="Calibri"/>
                <a:ea typeface="Calibri"/>
                <a:cs typeface="Calibri"/>
                <a:sym typeface="Calibri"/>
              </a:rPr>
              <a:t>Week 5-7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5257800" y="214884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Database &amp;</a:t>
            </a:r>
            <a:b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Backend API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6035040" y="3319272"/>
            <a:ext cx="274200" cy="274200"/>
          </a:xfrm>
          <a:prstGeom prst="ellipse">
            <a:avLst/>
          </a:prstGeom>
          <a:solidFill>
            <a:srgbClr val="E075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5349240" y="3794760"/>
            <a:ext cx="1645800" cy="457200"/>
          </a:xfrm>
          <a:prstGeom prst="roundRect">
            <a:avLst>
              <a:gd fmla="val 50000" name="adj"/>
            </a:avLst>
          </a:prstGeom>
          <a:solidFill>
            <a:srgbClr val="E0752D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7406640" y="1645920"/>
            <a:ext cx="2011800" cy="1554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7516368" y="1783080"/>
            <a:ext cx="179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Week 8-10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7498080" y="214884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Frontend &amp;</a:t>
            </a:r>
            <a:b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AI Integration</a:t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8275320" y="3319272"/>
            <a:ext cx="274200" cy="274200"/>
          </a:xfrm>
          <a:prstGeom prst="ellipse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7589520" y="3794760"/>
            <a:ext cx="1645800" cy="457200"/>
          </a:xfrm>
          <a:prstGeom prst="roundRect">
            <a:avLst>
              <a:gd fmla="val 50000" name="adj"/>
            </a:avLst>
          </a:prstGeom>
          <a:solidFill>
            <a:srgbClr val="8A8A8A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9646920" y="1645920"/>
            <a:ext cx="2011800" cy="1554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9756648" y="1783080"/>
            <a:ext cx="179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Week 11-12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9738360" y="214884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Testing &amp;</a:t>
            </a:r>
            <a:b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>
                <a:solidFill>
                  <a:srgbClr val="0E1A33"/>
                </a:solidFill>
                <a:latin typeface="Georgia"/>
                <a:ea typeface="Georgia"/>
                <a:cs typeface="Georgia"/>
                <a:sym typeface="Georgia"/>
              </a:rPr>
              <a:t>Deployment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10515600" y="3319272"/>
            <a:ext cx="274200" cy="274200"/>
          </a:xfrm>
          <a:prstGeom prst="ellipse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9829800" y="3794760"/>
            <a:ext cx="1645800" cy="457200"/>
          </a:xfrm>
          <a:prstGeom prst="roundRect">
            <a:avLst>
              <a:gd fmla="val 50000" name="adj"/>
            </a:avLst>
          </a:prstGeom>
          <a:solidFill>
            <a:srgbClr val="8A8A8A"/>
          </a:solidFill>
          <a:ln>
            <a:noFill/>
          </a:ln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4023360" y="4892040"/>
            <a:ext cx="255900" cy="255900"/>
          </a:xfrm>
          <a:prstGeom prst="ellipse">
            <a:avLst/>
          </a:prstGeom>
          <a:solidFill>
            <a:srgbClr val="3E8E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4343400" y="4828032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5852160" y="4892040"/>
            <a:ext cx="255900" cy="255900"/>
          </a:xfrm>
          <a:prstGeom prst="ellipse">
            <a:avLst/>
          </a:prstGeom>
          <a:solidFill>
            <a:srgbClr val="E075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6172200" y="4828032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7680960" y="4892040"/>
            <a:ext cx="255900" cy="255900"/>
          </a:xfrm>
          <a:prstGeom prst="ellipse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8001000" y="4828032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/>
          </a:p>
        </p:txBody>
      </p:sp>
      <p:pic>
        <p:nvPicPr>
          <p:cNvPr id="336" name="Google Shape;336;p24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Requirements (1 / 2)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graphicFrame>
        <p:nvGraphicFramePr>
          <p:cNvPr id="343" name="Google Shape;343;p25"/>
          <p:cNvGraphicFramePr/>
          <p:nvPr/>
        </p:nvGraphicFramePr>
        <p:xfrm>
          <a:off x="50292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{28F430EF-D343-4553-ABDA-5E5D71560465}</a:tableStyleId>
              </a:tblPr>
              <a:tblGrid>
                <a:gridCol w="1280150"/>
                <a:gridCol w="7589525"/>
                <a:gridCol w="2286000"/>
              </a:tblGrid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4B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4B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4B8B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registration with valid credentials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Secure login (JWT authentication)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 hashing / encryption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Role-based access control (RBAC)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 lifelong Unique Health ID (UHID)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 patient health profile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BMDC doctor verification + admin approval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System/Admin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 patient by UHID / mobile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Doctor/Lab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Send OTP consent request to patient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Verify OTP (expiry + attempt limit)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Session-scoped access, auto-revoke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44" name="Google Shape;344;p25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Requirements (2 / 2)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graphicFrame>
        <p:nvGraphicFramePr>
          <p:cNvPr id="351" name="Google Shape;351;p26"/>
          <p:cNvGraphicFramePr/>
          <p:nvPr/>
        </p:nvGraphicFramePr>
        <p:xfrm>
          <a:off x="50292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{28F430EF-D343-4553-ABDA-5E5D71560465}</a:tableStyleId>
              </a:tblPr>
              <a:tblGrid>
                <a:gridCol w="1280150"/>
                <a:gridCol w="7589525"/>
                <a:gridCol w="2286000"/>
              </a:tblGrid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4B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4B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E4B8B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clinical summary + interaction/allergy alerts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 diagnosis, symptoms &amp; prescription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Encrypt medical records at rest (AES-256)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Upload verified lab reports (PDF)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Immutable audit logging of all access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personal audit log (who accessed data)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Approve / deactivate doctors and labs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FR-19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 platform activity &amp; statistics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Secure logout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FR-21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Follow-up &amp; new-report notifications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3F9"/>
                    </a:solidFill>
                  </a:tcPr>
                </a:tc>
              </a:tr>
            </a:tbl>
          </a:graphicData>
        </a:graphic>
      </p:graphicFrame>
      <p:pic>
        <p:nvPicPr>
          <p:cNvPr id="352" name="Google Shape;352;p26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 txBox="1"/>
          <p:nvPr/>
        </p:nvSpPr>
        <p:spPr>
          <a:xfrm>
            <a:off x="640080" y="2560320"/>
            <a:ext cx="8686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pic>
        <p:nvPicPr>
          <p:cNvPr id="359" name="Google Shape;359;p27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Diagram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pic>
        <p:nvPicPr>
          <p:cNvPr id="366" name="Google Shape;366;p28" title="UseCase Final.drawio.png"/>
          <p:cNvPicPr preferRelativeResize="0"/>
          <p:nvPr/>
        </p:nvPicPr>
        <p:blipFill rotWithShape="1">
          <a:blip r:embed="rId3">
            <a:alphaModFix/>
          </a:blip>
          <a:srcRect b="0" l="-3016" r="-8268" t="0"/>
          <a:stretch/>
        </p:blipFill>
        <p:spPr>
          <a:xfrm>
            <a:off x="967000" y="1261994"/>
            <a:ext cx="10599624" cy="528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8" title="daffodil-international-university-logo-png_seeklogo-361757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 (ERD)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pic>
        <p:nvPicPr>
          <p:cNvPr id="374" name="Google Shape;374;p29" title="ERD Final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525" y="1325875"/>
            <a:ext cx="10404224" cy="52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9" title="daffodil-international-university-logo-png_seeklogo-361757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0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Diagram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pic>
        <p:nvPicPr>
          <p:cNvPr id="382" name="Google Shape;382;p30" title="Activity Diagram Fina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100" y="1228183"/>
            <a:ext cx="9183073" cy="522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0" title="daffodil-international-university-logo-png_seeklogo-361757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Diagram</a:t>
            </a:r>
            <a:endParaRPr/>
          </a:p>
        </p:txBody>
      </p:sp>
      <p:sp>
        <p:nvSpPr>
          <p:cNvPr id="389" name="Google Shape;389;p31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pic>
        <p:nvPicPr>
          <p:cNvPr id="390" name="Google Shape;390;p31" title="Sequence Fina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821" y="1301452"/>
            <a:ext cx="9378473" cy="522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 title="daffodil-international-university-logo-png_seeklogo-361757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"/>
          <p:cNvSpPr txBox="1"/>
          <p:nvPr/>
        </p:nvSpPr>
        <p:spPr>
          <a:xfrm>
            <a:off x="457200" y="32004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397" name="Google Shape;397;p3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[1]  Bangladesh Medical &amp; Dental Council (BMDC), "Registered Doctor Search," bmdc.org.bd.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[2]  World Health Organization, Electronic Health Records: Manual for Developing Countries, WHO, 2006.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[3]  Directorate General of Health Services (DGHS), Bangladesh, "Shared Health Record (SHR) &amp; DHIS2," dghs.gov.bd.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[4]  HL7 International, "FHIR R5 Specification — Patient &amp; Consent Resources," hl7.org/fhir.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[5]  U.S. HHS, "HIPAA Security Rule — Technical Safeguards (45 CFR 164.312)," hhs.gov.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[6]  Google, "Gemini API Documentation," ai.google.dev.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[7]  PostgreSQL Global Development Group, PostgreSQL 16 Documentation, postgresql.org/docs.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[8]  Prisma, "Prisma ORM Documentation," prisma.io/docs.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[9]  NIST, FIPS 197: Advanced Encryption Standard (AES), 2001.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[10] IETF, RFC 7519: JSON Web Token (JWT), 2015.</a:t>
            </a:r>
            <a:endParaRPr/>
          </a:p>
        </p:txBody>
      </p:sp>
      <p:sp>
        <p:nvSpPr>
          <p:cNvPr id="398" name="Google Shape;398;p32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pic>
        <p:nvPicPr>
          <p:cNvPr id="399" name="Google Shape;399;p32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/>
          <p:nvPr/>
        </p:nvSpPr>
        <p:spPr>
          <a:xfrm>
            <a:off x="2377440" y="2468880"/>
            <a:ext cx="7406640" cy="137160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405" name="Google Shape;405;p33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pic>
        <p:nvPicPr>
          <p:cNvPr id="406" name="Google Shape;406;p33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"/>
          <p:cNvSpPr txBox="1"/>
          <p:nvPr/>
        </p:nvSpPr>
        <p:spPr>
          <a:xfrm>
            <a:off x="4206240" y="2377440"/>
            <a:ext cx="3840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0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0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???</a:t>
            </a:r>
            <a:endParaRPr/>
          </a:p>
        </p:txBody>
      </p:sp>
      <p:sp>
        <p:nvSpPr>
          <p:cNvPr id="412" name="Google Shape;412;p34"/>
          <p:cNvSpPr txBox="1"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pic>
        <p:nvPicPr>
          <p:cNvPr id="413" name="Google Shape;413;p34" title="daffodil-international-university-logo-png_seeklogo-36175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080" y="-419805"/>
            <a:ext cx="2559995" cy="2559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